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DM Sans"/>
      <p:bold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DMSans-bold.fntdata"/><Relationship Id="rId10" Type="http://schemas.openxmlformats.org/officeDocument/2006/relationships/slide" Target="slides/slide5.xml"/><Relationship Id="rId12" Type="http://schemas.openxmlformats.org/officeDocument/2006/relationships/font" Target="fonts/DMSans-boldItalic.fnt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bcdec48e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dbcdec48e7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cdec48e7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dbcdec48e7_0_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bcdec48e7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dbcdec48e7_0_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jpg"/><Relationship Id="rId4" Type="http://schemas.openxmlformats.org/officeDocument/2006/relationships/image" Target="../media/image4.png"/><Relationship Id="rId9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11.png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176" l="0" r="-1236" t="-20652"/>
            </a:stretch>
          </a:blipFill>
          <a:ln>
            <a:noFill/>
          </a:ln>
        </p:spPr>
      </p:sp>
      <p:cxnSp>
        <p:nvCxnSpPr>
          <p:cNvPr id="85" name="Google Shape;85;p13"/>
          <p:cNvCxnSpPr/>
          <p:nvPr/>
        </p:nvCxnSpPr>
        <p:spPr>
          <a:xfrm rot="10800000">
            <a:off x="563420" y="-45048"/>
            <a:ext cx="0" cy="10377096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86" name="Google Shape;86;p13"/>
          <p:cNvGrpSpPr/>
          <p:nvPr/>
        </p:nvGrpSpPr>
        <p:grpSpPr>
          <a:xfrm>
            <a:off x="4779905" y="8979332"/>
            <a:ext cx="9013886" cy="3266948"/>
            <a:chOff x="0" y="-47625"/>
            <a:chExt cx="2374012" cy="860425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374012" cy="145882"/>
            </a:xfrm>
            <a:custGeom>
              <a:rect b="b" l="l" r="r" t="t"/>
              <a:pathLst>
                <a:path extrusionOk="0" h="145882" w="2374012">
                  <a:moveTo>
                    <a:pt x="0" y="0"/>
                  </a:moveTo>
                  <a:lnTo>
                    <a:pt x="2374012" y="0"/>
                  </a:lnTo>
                  <a:lnTo>
                    <a:pt x="2374012" y="145882"/>
                  </a:lnTo>
                  <a:lnTo>
                    <a:pt x="0" y="1458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flat" cmpd="sng" w="190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8" name="Google Shape;88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89" name="Google Shape;89;p13"/>
          <p:cNvCxnSpPr/>
          <p:nvPr/>
        </p:nvCxnSpPr>
        <p:spPr>
          <a:xfrm rot="10800000">
            <a:off x="17311217" y="-44950"/>
            <a:ext cx="0" cy="10377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" name="Google Shape;90;p13"/>
          <p:cNvGrpSpPr/>
          <p:nvPr/>
        </p:nvGrpSpPr>
        <p:grpSpPr>
          <a:xfrm>
            <a:off x="4779901" y="1932863"/>
            <a:ext cx="8728200" cy="4488505"/>
            <a:chOff x="3307509" y="-5595611"/>
            <a:chExt cx="11637600" cy="5984675"/>
          </a:xfrm>
        </p:grpSpPr>
        <p:sp>
          <p:nvSpPr>
            <p:cNvPr id="91" name="Google Shape;91;p13"/>
            <p:cNvSpPr txBox="1"/>
            <p:nvPr/>
          </p:nvSpPr>
          <p:spPr>
            <a:xfrm>
              <a:off x="3307509" y="-5595611"/>
              <a:ext cx="11637600" cy="398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0">
                  <a:latin typeface="DM Sans"/>
                  <a:ea typeface="DM Sans"/>
                  <a:cs typeface="DM Sans"/>
                  <a:sym typeface="DM Sans"/>
                </a:rPr>
                <a:t>Instruction Mix</a:t>
              </a:r>
              <a:endParaRPr/>
            </a:p>
          </p:txBody>
        </p:sp>
        <p:sp>
          <p:nvSpPr>
            <p:cNvPr id="92" name="Google Shape;92;p13"/>
            <p:cNvSpPr txBox="1"/>
            <p:nvPr/>
          </p:nvSpPr>
          <p:spPr>
            <a:xfrm>
              <a:off x="4546971" y="-1605936"/>
              <a:ext cx="9158700" cy="199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0">
                  <a:latin typeface="DM Sans"/>
                  <a:ea typeface="DM Sans"/>
                  <a:cs typeface="DM Sans"/>
                  <a:sym typeface="DM Sans"/>
                </a:rPr>
                <a:t>Analyzer</a:t>
              </a:r>
              <a:endParaRPr/>
            </a:p>
          </p:txBody>
        </p:sp>
      </p:grpSp>
      <p:sp>
        <p:nvSpPr>
          <p:cNvPr id="93" name="Google Shape;93;p13"/>
          <p:cNvSpPr txBox="1"/>
          <p:nvPr/>
        </p:nvSpPr>
        <p:spPr>
          <a:xfrm>
            <a:off x="7133903" y="9282339"/>
            <a:ext cx="4305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Presentation by: </a:t>
            </a:r>
            <a:r>
              <a:rPr lang="en-US" sz="2100">
                <a:latin typeface="DM Sans"/>
                <a:ea typeface="DM Sans"/>
                <a:cs typeface="DM Sans"/>
                <a:sym typeface="DM Sans"/>
              </a:rPr>
              <a:t>Nathan Galay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176" l="0" r="-1236" t="-20652"/>
            </a:stretch>
          </a:blipFill>
          <a:ln>
            <a:noFill/>
          </a:ln>
        </p:spPr>
      </p:sp>
      <p:sp>
        <p:nvSpPr>
          <p:cNvPr id="99" name="Google Shape;99;p14"/>
          <p:cNvSpPr txBox="1"/>
          <p:nvPr/>
        </p:nvSpPr>
        <p:spPr>
          <a:xfrm>
            <a:off x="5277600" y="0"/>
            <a:ext cx="77328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600">
                <a:latin typeface="DM Sans"/>
                <a:ea typeface="DM Sans"/>
                <a:cs typeface="DM Sans"/>
                <a:sym typeface="DM Sans"/>
              </a:rPr>
              <a:t>Introduction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979925" y="1645925"/>
            <a:ext cx="6602700" cy="82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91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●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I wanted to know the instruction set given in the assignments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●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straight-forward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●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Take in a .txt file that is filled with hex code; the code looks </a:t>
            </a: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through the instructions and returns the instruction types and the specific instruction: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ALU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Memory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Branch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Control 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Other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1" name="Google Shape;101;p14" title="output1.png"/>
          <p:cNvPicPr preferRelativeResize="0"/>
          <p:nvPr/>
        </p:nvPicPr>
        <p:blipFill rotWithShape="1">
          <a:blip r:embed="rId4">
            <a:alphaModFix/>
          </a:blip>
          <a:srcRect b="0" l="0" r="0" t="31801"/>
          <a:stretch/>
        </p:blipFill>
        <p:spPr>
          <a:xfrm>
            <a:off x="11785163" y="6328500"/>
            <a:ext cx="6212126" cy="3842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title="output2.png"/>
          <p:cNvPicPr preferRelativeResize="0"/>
          <p:nvPr/>
        </p:nvPicPr>
        <p:blipFill rotWithShape="1">
          <a:blip r:embed="rId5">
            <a:alphaModFix/>
          </a:blip>
          <a:srcRect b="53538" l="0" r="9116" t="0"/>
          <a:stretch/>
        </p:blipFill>
        <p:spPr>
          <a:xfrm>
            <a:off x="9097337" y="1449875"/>
            <a:ext cx="8899950" cy="437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181" l="0" r="-1240" t="-20650"/>
            </a:stretch>
          </a:blipFill>
          <a:ln>
            <a:noFill/>
          </a:ln>
        </p:spPr>
      </p:sp>
      <p:cxnSp>
        <p:nvCxnSpPr>
          <p:cNvPr id="108" name="Google Shape;108;p15"/>
          <p:cNvCxnSpPr/>
          <p:nvPr/>
        </p:nvCxnSpPr>
        <p:spPr>
          <a:xfrm rot="10800000">
            <a:off x="17724580" y="554016"/>
            <a:ext cx="0" cy="9747600"/>
          </a:xfrm>
          <a:prstGeom prst="straightConnector1">
            <a:avLst/>
          </a:prstGeom>
          <a:noFill/>
          <a:ln cap="flat" cmpd="sng" w="19050">
            <a:solidFill>
              <a:srgbClr val="FFFAF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5"/>
          <p:cNvSpPr txBox="1"/>
          <p:nvPr/>
        </p:nvSpPr>
        <p:spPr>
          <a:xfrm>
            <a:off x="112952" y="9812165"/>
            <a:ext cx="3051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Key Code Structures</a:t>
            </a:r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0600" y="772475"/>
            <a:ext cx="8886825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4700538" y="-28900"/>
            <a:ext cx="88869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Looped Through:</a:t>
            </a:r>
            <a:endParaRPr b="1" sz="45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00550" y="4230988"/>
            <a:ext cx="8886899" cy="643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4700513" y="3538288"/>
            <a:ext cx="88869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Find the specific instruction:</a:t>
            </a:r>
            <a:endParaRPr b="1" sz="45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4" name="Google Shape;114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00593" y="8397705"/>
            <a:ext cx="8886900" cy="764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4700525" y="7704988"/>
            <a:ext cx="88869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Get Stats:</a:t>
            </a:r>
            <a:endParaRPr b="1" sz="45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6" name="Google Shape;116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881925" y="5134687"/>
            <a:ext cx="4414439" cy="300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128894" y="5851682"/>
            <a:ext cx="4159101" cy="4399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881913" y="1819925"/>
            <a:ext cx="2524125" cy="128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181" l="0" r="-1240" t="-20650"/>
            </a:stretch>
          </a:blipFill>
          <a:ln>
            <a:noFill/>
          </a:ln>
        </p:spPr>
      </p:sp>
      <p:sp>
        <p:nvSpPr>
          <p:cNvPr id="124" name="Google Shape;124;p16"/>
          <p:cNvSpPr txBox="1"/>
          <p:nvPr/>
        </p:nvSpPr>
        <p:spPr>
          <a:xfrm>
            <a:off x="7329969" y="289450"/>
            <a:ext cx="57231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600">
                <a:latin typeface="DM Sans"/>
                <a:ea typeface="DM Sans"/>
                <a:cs typeface="DM Sans"/>
                <a:sym typeface="DM Sans"/>
              </a:rPr>
              <a:t>Demo</a:t>
            </a:r>
            <a:endParaRPr/>
          </a:p>
        </p:txBody>
      </p:sp>
      <p:cxnSp>
        <p:nvCxnSpPr>
          <p:cNvPr id="125" name="Google Shape;125;p16"/>
          <p:cNvCxnSpPr/>
          <p:nvPr/>
        </p:nvCxnSpPr>
        <p:spPr>
          <a:xfrm rot="10800000">
            <a:off x="16473400" y="53"/>
            <a:ext cx="0" cy="10481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5698263" y="2690575"/>
            <a:ext cx="6602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Hex was taken from a random previous assignment.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4752" y="0"/>
            <a:ext cx="4615646" cy="10286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5611" y="0"/>
            <a:ext cx="4611977" cy="10286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181" l="0" r="-1240" t="-20650"/>
            </a:stretch>
          </a:blipFill>
          <a:ln>
            <a:noFill/>
          </a:ln>
        </p:spPr>
      </p:sp>
      <p:cxnSp>
        <p:nvCxnSpPr>
          <p:cNvPr id="134" name="Google Shape;134;p17"/>
          <p:cNvCxnSpPr/>
          <p:nvPr/>
        </p:nvCxnSpPr>
        <p:spPr>
          <a:xfrm rot="10800000">
            <a:off x="2310557" y="-44952"/>
            <a:ext cx="0" cy="10377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17"/>
          <p:cNvSpPr txBox="1"/>
          <p:nvPr/>
        </p:nvSpPr>
        <p:spPr>
          <a:xfrm>
            <a:off x="3106201" y="362225"/>
            <a:ext cx="12075600" cy="11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300">
                <a:latin typeface="DM Sans"/>
                <a:ea typeface="DM Sans"/>
                <a:cs typeface="DM Sans"/>
                <a:sym typeface="DM Sans"/>
              </a:rPr>
              <a:t>Findings and Observations</a:t>
            </a:r>
            <a:endParaRPr sz="300"/>
          </a:p>
        </p:txBody>
      </p:sp>
      <p:cxnSp>
        <p:nvCxnSpPr>
          <p:cNvPr id="136" name="Google Shape;136;p17"/>
          <p:cNvCxnSpPr/>
          <p:nvPr/>
        </p:nvCxnSpPr>
        <p:spPr>
          <a:xfrm rot="10800000">
            <a:off x="16473400" y="53"/>
            <a:ext cx="0" cy="10481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7"/>
          <p:cNvSpPr txBox="1"/>
          <p:nvPr/>
        </p:nvSpPr>
        <p:spPr>
          <a:xfrm>
            <a:off x="2772662" y="2035500"/>
            <a:ext cx="12876300" cy="88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9100" lvl="1" marL="13716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Instruction Type Coverage: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2" marL="18288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■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4 categories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2" marL="18288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■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39 specific instructions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13716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Performance Analysis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2" marL="18288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■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you can see the CPU performance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1" marL="13716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○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Examine and find NOP instructions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0" marL="9144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●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I had to find ways to fill in sets that are empty when decoded (caused error):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-4191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000"/>
              <a:buFont typeface="DM Sans"/>
              <a:buChar char="●"/>
            </a:pPr>
            <a:r>
              <a:rPr lang="en-US" sz="3000">
                <a:latin typeface="DM Sans"/>
                <a:ea typeface="DM Sans"/>
                <a:cs typeface="DM Sans"/>
                <a:sym typeface="DM Sans"/>
              </a:rPr>
              <a:t>You can witness the amount of compute, memory, and branch instructions there are in an instruction set.</a:t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38" name="Google Shape;138;p17"/>
          <p:cNvPicPr preferRelativeResize="0"/>
          <p:nvPr/>
        </p:nvPicPr>
        <p:blipFill rotWithShape="1">
          <a:blip r:embed="rId4">
            <a:alphaModFix/>
          </a:blip>
          <a:srcRect b="0" l="0" r="49052" t="46297"/>
          <a:stretch/>
        </p:blipFill>
        <p:spPr>
          <a:xfrm>
            <a:off x="6462838" y="6429375"/>
            <a:ext cx="5362325" cy="80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