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embeddedFontLst>
    <p:embeddedFont>
      <p:font typeface="DM Sans"/>
      <p:bold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DMSans-bold.fntdata"/><Relationship Id="rId10" Type="http://schemas.openxmlformats.org/officeDocument/2006/relationships/slide" Target="slides/slide5.xml"/><Relationship Id="rId12" Type="http://schemas.openxmlformats.org/officeDocument/2006/relationships/font" Target="fonts/DMSans-boldItalic.fnt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bcdec48e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dbcdec48e7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bcdec48e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dbcdec48e7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bcdec48e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dbcdec48e7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4.png"/><Relationship Id="rId9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176" l="0" r="-1236" t="-20652"/>
            </a:stretch>
          </a:blipFill>
          <a:ln>
            <a:noFill/>
          </a:ln>
        </p:spPr>
      </p:sp>
      <p:cxnSp>
        <p:nvCxnSpPr>
          <p:cNvPr id="85" name="Google Shape;85;p13"/>
          <p:cNvCxnSpPr/>
          <p:nvPr/>
        </p:nvCxnSpPr>
        <p:spPr>
          <a:xfrm rot="10800000">
            <a:off x="563420" y="-45048"/>
            <a:ext cx="0" cy="10377096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13"/>
          <p:cNvCxnSpPr/>
          <p:nvPr/>
        </p:nvCxnSpPr>
        <p:spPr>
          <a:xfrm flipH="1">
            <a:off x="566725" y="558025"/>
            <a:ext cx="10472400" cy="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7" name="Google Shape;87;p13"/>
          <p:cNvGrpSpPr/>
          <p:nvPr/>
        </p:nvGrpSpPr>
        <p:grpSpPr>
          <a:xfrm>
            <a:off x="1298030" y="8979333"/>
            <a:ext cx="9013828" cy="3266922"/>
            <a:chOff x="0" y="-47625"/>
            <a:chExt cx="2374012" cy="860425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2374012" cy="145882"/>
            </a:xfrm>
            <a:custGeom>
              <a:rect b="b" l="l" r="r" t="t"/>
              <a:pathLst>
                <a:path extrusionOk="0" h="145882" w="2374012">
                  <a:moveTo>
                    <a:pt x="0" y="0"/>
                  </a:moveTo>
                  <a:lnTo>
                    <a:pt x="2374012" y="0"/>
                  </a:lnTo>
                  <a:lnTo>
                    <a:pt x="2374012" y="145882"/>
                  </a:lnTo>
                  <a:lnTo>
                    <a:pt x="0" y="1458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0" name="Google Shape;90;p13"/>
          <p:cNvCxnSpPr/>
          <p:nvPr/>
        </p:nvCxnSpPr>
        <p:spPr>
          <a:xfrm rot="10800000">
            <a:off x="11027417" y="-109146"/>
            <a:ext cx="0" cy="10377096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13"/>
          <p:cNvCxnSpPr/>
          <p:nvPr/>
        </p:nvCxnSpPr>
        <p:spPr>
          <a:xfrm rot="10800000">
            <a:off x="4041866" y="-84032"/>
            <a:ext cx="0" cy="65697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13"/>
          <p:cNvCxnSpPr/>
          <p:nvPr/>
        </p:nvCxnSpPr>
        <p:spPr>
          <a:xfrm rot="10800000">
            <a:off x="7529921" y="-84032"/>
            <a:ext cx="0" cy="65697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3" name="Google Shape;93;p13"/>
          <p:cNvGrpSpPr/>
          <p:nvPr/>
        </p:nvGrpSpPr>
        <p:grpSpPr>
          <a:xfrm>
            <a:off x="1440826" y="2933100"/>
            <a:ext cx="8728200" cy="4420793"/>
            <a:chOff x="-1144592" y="-4261961"/>
            <a:chExt cx="11637600" cy="5894391"/>
          </a:xfrm>
        </p:grpSpPr>
        <p:sp>
          <p:nvSpPr>
            <p:cNvPr id="94" name="Google Shape;94;p13"/>
            <p:cNvSpPr txBox="1"/>
            <p:nvPr/>
          </p:nvSpPr>
          <p:spPr>
            <a:xfrm>
              <a:off x="-1144592" y="-4261961"/>
              <a:ext cx="11637600" cy="39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0">
                  <a:latin typeface="DM Sans"/>
                  <a:ea typeface="DM Sans"/>
                  <a:cs typeface="DM Sans"/>
                  <a:sym typeface="DM Sans"/>
                </a:rPr>
                <a:t>Instruction Mix</a:t>
              </a:r>
              <a:endParaRPr/>
            </a:p>
          </p:txBody>
        </p:sp>
        <p:sp>
          <p:nvSpPr>
            <p:cNvPr id="95" name="Google Shape;95;p13"/>
            <p:cNvSpPr txBox="1"/>
            <p:nvPr/>
          </p:nvSpPr>
          <p:spPr>
            <a:xfrm>
              <a:off x="88521" y="-362569"/>
              <a:ext cx="9158700" cy="19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0">
                  <a:latin typeface="DM Sans"/>
                  <a:ea typeface="DM Sans"/>
                  <a:cs typeface="DM Sans"/>
                  <a:sym typeface="DM Sans"/>
                </a:rPr>
                <a:t>Analyzer</a:t>
              </a:r>
              <a:endParaRPr/>
            </a:p>
          </p:txBody>
        </p:sp>
      </p:grpSp>
      <p:sp>
        <p:nvSpPr>
          <p:cNvPr id="96" name="Google Shape;96;p13"/>
          <p:cNvSpPr txBox="1"/>
          <p:nvPr/>
        </p:nvSpPr>
        <p:spPr>
          <a:xfrm>
            <a:off x="1498953" y="9306614"/>
            <a:ext cx="430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Presentation by: </a:t>
            </a:r>
            <a:r>
              <a:rPr lang="en-US" sz="2100">
                <a:latin typeface="DM Sans"/>
                <a:ea typeface="DM Sans"/>
                <a:cs typeface="DM Sans"/>
                <a:sym typeface="DM Sans"/>
              </a:rPr>
              <a:t>Nathan Galay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5804944" y="9306614"/>
            <a:ext cx="430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176" l="0" r="-1236" t="-20652"/>
            </a:stretch>
          </a:blipFill>
          <a:ln>
            <a:noFill/>
          </a:ln>
        </p:spPr>
      </p:sp>
      <p:cxnSp>
        <p:nvCxnSpPr>
          <p:cNvPr id="103" name="Google Shape;103;p14"/>
          <p:cNvCxnSpPr/>
          <p:nvPr/>
        </p:nvCxnSpPr>
        <p:spPr>
          <a:xfrm rot="10800000">
            <a:off x="2310557" y="-45048"/>
            <a:ext cx="0" cy="10377096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4"/>
          <p:cNvCxnSpPr/>
          <p:nvPr/>
        </p:nvCxnSpPr>
        <p:spPr>
          <a:xfrm flipH="1">
            <a:off x="2310400" y="2207825"/>
            <a:ext cx="7151700" cy="8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14"/>
          <p:cNvSpPr txBox="1"/>
          <p:nvPr/>
        </p:nvSpPr>
        <p:spPr>
          <a:xfrm>
            <a:off x="2772644" y="313700"/>
            <a:ext cx="57231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>
                <a:latin typeface="DM Sans"/>
                <a:ea typeface="DM Sans"/>
                <a:cs typeface="DM Sans"/>
                <a:sym typeface="DM Sans"/>
              </a:rPr>
              <a:t>Purpose</a:t>
            </a:r>
            <a:endParaRPr/>
          </a:p>
        </p:txBody>
      </p:sp>
      <p:cxnSp>
        <p:nvCxnSpPr>
          <p:cNvPr id="106" name="Google Shape;106;p14"/>
          <p:cNvCxnSpPr/>
          <p:nvPr/>
        </p:nvCxnSpPr>
        <p:spPr>
          <a:xfrm flipH="1" rot="10800000">
            <a:off x="9416626" y="2256303"/>
            <a:ext cx="45600" cy="8030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14"/>
          <p:cNvCxnSpPr/>
          <p:nvPr/>
        </p:nvCxnSpPr>
        <p:spPr>
          <a:xfrm rot="10800000">
            <a:off x="16473400" y="53"/>
            <a:ext cx="0" cy="10481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14"/>
          <p:cNvSpPr txBox="1"/>
          <p:nvPr/>
        </p:nvSpPr>
        <p:spPr>
          <a:xfrm>
            <a:off x="2562238" y="3466950"/>
            <a:ext cx="6602700" cy="6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Take in a .txt file that is filled with hex code; the code looks </a:t>
            </a: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through the instructions and returns the instruction types and the specific instruction:</a:t>
            </a:r>
            <a:endParaRPr sz="3000"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"/>
              <a:buChar char="-"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ALU</a:t>
            </a:r>
            <a:endParaRPr sz="3000"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"/>
              <a:buChar char="-"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Memory</a:t>
            </a:r>
            <a:endParaRPr sz="3000"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"/>
              <a:buChar char="-"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Branch</a:t>
            </a:r>
            <a:endParaRPr sz="3000"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"/>
              <a:buChar char="-"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Control </a:t>
            </a:r>
            <a:endParaRPr sz="3000"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"/>
              <a:buChar char="-"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Other</a:t>
            </a:r>
            <a:endParaRPr sz="30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9" name="Google Shape;109;p14" title="output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01300" y="0"/>
            <a:ext cx="6212113" cy="563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title="output2.png"/>
          <p:cNvPicPr preferRelativeResize="0"/>
          <p:nvPr/>
        </p:nvPicPr>
        <p:blipFill rotWithShape="1">
          <a:blip r:embed="rId5">
            <a:alphaModFix/>
          </a:blip>
          <a:srcRect b="53538" l="0" r="9116" t="0"/>
          <a:stretch/>
        </p:blipFill>
        <p:spPr>
          <a:xfrm>
            <a:off x="8757387" y="5914050"/>
            <a:ext cx="8899950" cy="437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181" l="0" r="-1240" t="-20650"/>
            </a:stretch>
          </a:blipFill>
          <a:ln>
            <a:noFill/>
          </a:ln>
        </p:spPr>
      </p:sp>
      <p:cxnSp>
        <p:nvCxnSpPr>
          <p:cNvPr id="116" name="Google Shape;116;p15"/>
          <p:cNvCxnSpPr/>
          <p:nvPr/>
        </p:nvCxnSpPr>
        <p:spPr>
          <a:xfrm rot="10800000">
            <a:off x="17724580" y="554016"/>
            <a:ext cx="0" cy="97476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15"/>
          <p:cNvCxnSpPr/>
          <p:nvPr/>
        </p:nvCxnSpPr>
        <p:spPr>
          <a:xfrm rot="10800000">
            <a:off x="566651" y="563420"/>
            <a:ext cx="17147400" cy="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15"/>
          <p:cNvCxnSpPr/>
          <p:nvPr/>
        </p:nvCxnSpPr>
        <p:spPr>
          <a:xfrm rot="10800000">
            <a:off x="576215" y="573066"/>
            <a:ext cx="0" cy="97476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15"/>
          <p:cNvSpPr txBox="1"/>
          <p:nvPr/>
        </p:nvSpPr>
        <p:spPr>
          <a:xfrm>
            <a:off x="3388302" y="9787890"/>
            <a:ext cx="305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Key Code Structures</a:t>
            </a:r>
            <a:endParaRPr/>
          </a:p>
        </p:txBody>
      </p:sp>
      <p:pic>
        <p:nvPicPr>
          <p:cNvPr id="120" name="Google Shape;12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5775" y="2053575"/>
            <a:ext cx="8886825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915713" y="1252200"/>
            <a:ext cx="8886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Looped Through:</a:t>
            </a:r>
            <a:endParaRPr b="1" sz="45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2" name="Google Shape;12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5750" y="4557375"/>
            <a:ext cx="8886899" cy="64332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915713" y="3864675"/>
            <a:ext cx="8886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Find the specific instruction:</a:t>
            </a:r>
            <a:endParaRPr b="1" sz="45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4" name="Google Shape;12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5780" y="6584030"/>
            <a:ext cx="8886900" cy="764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915713" y="5891313"/>
            <a:ext cx="8886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Get Stats:</a:t>
            </a:r>
            <a:endParaRPr b="1" sz="45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6" name="Google Shape;126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142175" y="3194949"/>
            <a:ext cx="4414439" cy="300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727994" y="5493994"/>
            <a:ext cx="4159101" cy="4399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545475" y="1567788"/>
            <a:ext cx="2524125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181" l="0" r="-1240" t="-20650"/>
            </a:stretch>
          </a:blipFill>
          <a:ln>
            <a:noFill/>
          </a:ln>
        </p:spPr>
      </p:sp>
      <p:cxnSp>
        <p:nvCxnSpPr>
          <p:cNvPr id="134" name="Google Shape;134;p16"/>
          <p:cNvCxnSpPr/>
          <p:nvPr/>
        </p:nvCxnSpPr>
        <p:spPr>
          <a:xfrm rot="10800000">
            <a:off x="2310557" y="-44952"/>
            <a:ext cx="0" cy="10377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p16"/>
          <p:cNvCxnSpPr/>
          <p:nvPr/>
        </p:nvCxnSpPr>
        <p:spPr>
          <a:xfrm flipH="1">
            <a:off x="2310400" y="2207825"/>
            <a:ext cx="7151700" cy="8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16"/>
          <p:cNvSpPr txBox="1"/>
          <p:nvPr/>
        </p:nvSpPr>
        <p:spPr>
          <a:xfrm>
            <a:off x="2772644" y="313700"/>
            <a:ext cx="57231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>
                <a:latin typeface="DM Sans"/>
                <a:ea typeface="DM Sans"/>
                <a:cs typeface="DM Sans"/>
                <a:sym typeface="DM Sans"/>
              </a:rPr>
              <a:t>Demo</a:t>
            </a:r>
            <a:endParaRPr/>
          </a:p>
        </p:txBody>
      </p:sp>
      <p:cxnSp>
        <p:nvCxnSpPr>
          <p:cNvPr id="137" name="Google Shape;137;p16"/>
          <p:cNvCxnSpPr/>
          <p:nvPr/>
        </p:nvCxnSpPr>
        <p:spPr>
          <a:xfrm flipH="1" rot="10800000">
            <a:off x="9416626" y="2256303"/>
            <a:ext cx="45600" cy="8030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16"/>
          <p:cNvCxnSpPr/>
          <p:nvPr/>
        </p:nvCxnSpPr>
        <p:spPr>
          <a:xfrm rot="10800000">
            <a:off x="16473400" y="53"/>
            <a:ext cx="0" cy="10481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16"/>
          <p:cNvSpPr txBox="1"/>
          <p:nvPr/>
        </p:nvSpPr>
        <p:spPr>
          <a:xfrm>
            <a:off x="2562238" y="3466950"/>
            <a:ext cx="6602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Hex was taken from a random previous assignment.</a:t>
            </a:r>
            <a:endParaRPr sz="30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181" l="0" r="-1240" t="-20650"/>
            </a:stretch>
          </a:blipFill>
          <a:ln>
            <a:noFill/>
          </a:ln>
        </p:spPr>
      </p:sp>
      <p:cxnSp>
        <p:nvCxnSpPr>
          <p:cNvPr id="145" name="Google Shape;145;p17"/>
          <p:cNvCxnSpPr/>
          <p:nvPr/>
        </p:nvCxnSpPr>
        <p:spPr>
          <a:xfrm rot="10800000">
            <a:off x="2310557" y="-44952"/>
            <a:ext cx="0" cy="10377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17"/>
          <p:cNvSpPr txBox="1"/>
          <p:nvPr/>
        </p:nvSpPr>
        <p:spPr>
          <a:xfrm>
            <a:off x="3106201" y="362225"/>
            <a:ext cx="120756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00">
                <a:latin typeface="DM Sans"/>
                <a:ea typeface="DM Sans"/>
                <a:cs typeface="DM Sans"/>
                <a:sym typeface="DM Sans"/>
              </a:rPr>
              <a:t>Findings and Observations</a:t>
            </a:r>
            <a:endParaRPr sz="300"/>
          </a:p>
        </p:txBody>
      </p:sp>
      <p:cxnSp>
        <p:nvCxnSpPr>
          <p:cNvPr id="147" name="Google Shape;147;p17"/>
          <p:cNvCxnSpPr/>
          <p:nvPr/>
        </p:nvCxnSpPr>
        <p:spPr>
          <a:xfrm rot="10800000">
            <a:off x="16473400" y="53"/>
            <a:ext cx="0" cy="10481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17"/>
          <p:cNvSpPr txBox="1"/>
          <p:nvPr/>
        </p:nvSpPr>
        <p:spPr>
          <a:xfrm>
            <a:off x="2772662" y="2035500"/>
            <a:ext cx="12876300" cy="88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1" marL="1371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"/>
              <a:buChar char="○"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Instruction Type Coverage:</a:t>
            </a:r>
            <a:endParaRPr sz="3000">
              <a:latin typeface="DM Sans"/>
              <a:ea typeface="DM Sans"/>
              <a:cs typeface="DM Sans"/>
              <a:sym typeface="DM Sans"/>
            </a:endParaRPr>
          </a:p>
          <a:p>
            <a:pPr indent="-419100" lvl="2" marL="18288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"/>
              <a:buChar char="■"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4 categories</a:t>
            </a:r>
            <a:endParaRPr sz="3000">
              <a:latin typeface="DM Sans"/>
              <a:ea typeface="DM Sans"/>
              <a:cs typeface="DM Sans"/>
              <a:sym typeface="DM Sans"/>
            </a:endParaRPr>
          </a:p>
          <a:p>
            <a:pPr indent="-419100" lvl="2" marL="18288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"/>
              <a:buChar char="■"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39 specific instructions</a:t>
            </a:r>
            <a:endParaRPr sz="3000">
              <a:latin typeface="DM Sans"/>
              <a:ea typeface="DM Sans"/>
              <a:cs typeface="DM Sans"/>
              <a:sym typeface="DM Sans"/>
            </a:endParaRPr>
          </a:p>
          <a:p>
            <a:pPr indent="-419100" lvl="1" marL="1371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"/>
              <a:buChar char="○"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Performance Analysis</a:t>
            </a:r>
            <a:endParaRPr sz="3000">
              <a:latin typeface="DM Sans"/>
              <a:ea typeface="DM Sans"/>
              <a:cs typeface="DM Sans"/>
              <a:sym typeface="DM Sans"/>
            </a:endParaRPr>
          </a:p>
          <a:p>
            <a:pPr indent="-419100" lvl="2" marL="18288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"/>
              <a:buChar char="■"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you can see the CPU performance</a:t>
            </a:r>
            <a:endParaRPr sz="3000">
              <a:latin typeface="DM Sans"/>
              <a:ea typeface="DM Sans"/>
              <a:cs typeface="DM Sans"/>
              <a:sym typeface="DM Sans"/>
            </a:endParaRPr>
          </a:p>
          <a:p>
            <a:pPr indent="-419100" lvl="1" marL="1371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"/>
              <a:buChar char="○"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Examine and find NOP instructions</a:t>
            </a:r>
            <a:endParaRPr sz="3000"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"/>
              <a:buChar char="●"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I had to find ways to fill in sets that are empty when decoded (caused error):</a:t>
            </a:r>
            <a:endParaRPr sz="3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3000"/>
              <a:buFont typeface="DM Sans"/>
              <a:buChar char="●"/>
            </a:pPr>
            <a:r>
              <a:rPr lang="en-US" sz="3000">
                <a:latin typeface="DM Sans"/>
                <a:ea typeface="DM Sans"/>
                <a:cs typeface="DM Sans"/>
                <a:sym typeface="DM Sans"/>
              </a:rPr>
              <a:t>You can witness the amount of compute, memory, and branch instructions there are in an instruction set.</a:t>
            </a:r>
            <a:endParaRPr sz="3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49052" t="46297"/>
          <a:stretch/>
        </p:blipFill>
        <p:spPr>
          <a:xfrm>
            <a:off x="6462838" y="6429375"/>
            <a:ext cx="5362325" cy="80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